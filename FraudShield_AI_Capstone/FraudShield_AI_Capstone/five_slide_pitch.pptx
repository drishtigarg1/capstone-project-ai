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700" b="1">
                <a:solidFill>
                  <a:srgbClr val="41CFB9"/>
                </a:solidFill>
              </a:defRPr>
            </a:pPr>
            <a:r>
              <a:t>01  THE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400" b="1">
                <a:solidFill>
                  <a:srgbClr val="FFFFFF"/>
                </a:solidFill>
              </a:defRPr>
            </a:pPr>
            <a:r>
              <a:t>Fraud review needs prioritization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0"/>
            <a:ext cx="10607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 b="0">
                <a:solidFill>
                  <a:srgbClr val="D7E4EE"/>
                </a:solidFill>
              </a:defRPr>
            </a:pPr>
            <a:r>
              <a:t>Reviewers cannot manually inspect every transaction at scale.</a:t>
            </a:r>
          </a:p>
          <a:p>
            <a:pPr>
              <a:spcAft>
                <a:spcPts val="1800"/>
              </a:spcAft>
              <a:defRPr sz="2100" b="0">
                <a:solidFill>
                  <a:srgbClr val="D7E4EE"/>
                </a:solidFill>
              </a:defRPr>
            </a:pPr>
            <a:r>
              <a:t>Goal: flag potentially suspicious records for human review.</a:t>
            </a:r>
          </a:p>
          <a:p>
            <a:pPr>
              <a:spcAft>
                <a:spcPts val="1800"/>
              </a:spcAft>
              <a:defRPr sz="2100" b="0">
                <a:solidFill>
                  <a:srgbClr val="D7E4EE"/>
                </a:solidFill>
              </a:defRPr>
            </a:pPr>
            <a:r>
              <a:t>Value proposition: faster triage, subject to real-world validation.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700" b="1">
                <a:solidFill>
                  <a:srgbClr val="41CFB9"/>
                </a:solidFill>
              </a:defRPr>
            </a:pPr>
            <a:r>
              <a:t>02  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400" b="1">
                <a:solidFill>
                  <a:srgbClr val="FFFFFF"/>
                </a:solidFill>
              </a:defRPr>
            </a:pPr>
            <a:r>
              <a:t>6,000 synthetic transaction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0"/>
            <a:ext cx="10607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 b="0">
                <a:solidFill>
                  <a:srgbClr val="D7E4EE"/>
                </a:solidFill>
              </a:defRPr>
            </a:pPr>
            <a:r>
              <a:t>Features: amount, hour, transaction velocity, location flag, new device, account age.</a:t>
            </a:r>
          </a:p>
          <a:p>
            <a:pPr>
              <a:spcAft>
                <a:spcPts val="1800"/>
              </a:spcAft>
              <a:defRPr sz="2100" b="0">
                <a:solidFill>
                  <a:srgbClr val="D7E4EE"/>
                </a:solidFill>
              </a:defRPr>
            </a:pPr>
            <a:r>
              <a:t>Synthetic fraud labels; no personal or bank records.</a:t>
            </a:r>
          </a:p>
          <a:p>
            <a:pPr>
              <a:spcAft>
                <a:spcPts val="1800"/>
              </a:spcAft>
              <a:defRPr sz="2100" b="0">
                <a:solidFill>
                  <a:srgbClr val="D7E4EE"/>
                </a:solidFill>
              </a:defRPr>
            </a:pPr>
            <a:r>
              <a:t>Stratified 75/25 split; class imbalance and false positives matter.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700" b="1">
                <a:solidFill>
                  <a:srgbClr val="41CFB9"/>
                </a:solidFill>
              </a:defRPr>
            </a:pPr>
            <a:r>
              <a:t>03 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400" b="1">
                <a:solidFill>
                  <a:srgbClr val="FFFFFF"/>
                </a:solidFill>
              </a:defRPr>
            </a:pPr>
            <a:r>
              <a:t>Random Forest + Streamlit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0"/>
            <a:ext cx="10607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 b="0">
                <a:solidFill>
                  <a:srgbClr val="D7E4EE"/>
                </a:solidFill>
              </a:defRPr>
            </a:pPr>
            <a:r>
              <a:t>Class-weighted Random Forest; reproducible training pipeline.</a:t>
            </a:r>
          </a:p>
          <a:p>
            <a:pPr>
              <a:spcAft>
                <a:spcPts val="1800"/>
              </a:spcAft>
              <a:defRPr sz="2100" b="0">
                <a:solidFill>
                  <a:srgbClr val="D7E4EE"/>
                </a:solidFill>
              </a:defRPr>
            </a:pPr>
            <a:r>
              <a:t>35% score threshold triggers a human-review recommendation.</a:t>
            </a:r>
          </a:p>
          <a:p>
            <a:pPr>
              <a:spcAft>
                <a:spcPts val="1800"/>
              </a:spcAft>
              <a:defRPr sz="2100" b="0">
                <a:solidFill>
                  <a:srgbClr val="D7E4EE"/>
                </a:solidFill>
              </a:defRPr>
            </a:pPr>
            <a:r>
              <a:t>User enters transaction attributes and sees a risk score.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700" b="1">
                <a:solidFill>
                  <a:srgbClr val="41CFB9"/>
                </a:solidFill>
              </a:defRPr>
            </a:pPr>
            <a:r>
              <a:t>04  THE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400" b="1">
                <a:solidFill>
                  <a:srgbClr val="FFFFFF"/>
                </a:solidFill>
              </a:defRPr>
            </a:pPr>
            <a:r>
              <a:t>Working demo and measured test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0"/>
            <a:ext cx="10607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 b="0">
                <a:solidFill>
                  <a:srgbClr val="D7E4EE"/>
                </a:solidFill>
              </a:defRPr>
            </a:pPr>
            <a:r>
              <a:t>Held-out synthetic results: Precision 9.9% | Recall 53.6%</a:t>
            </a:r>
          </a:p>
          <a:p>
            <a:pPr>
              <a:spcAft>
                <a:spcPts val="1800"/>
              </a:spcAft>
              <a:defRPr sz="2100" b="0">
                <a:solidFill>
                  <a:srgbClr val="D7E4EE"/>
                </a:solidFill>
              </a:defRPr>
            </a:pPr>
            <a:r>
              <a:t>F1 16.7% | Average precision 11.1%</a:t>
            </a:r>
          </a:p>
          <a:p>
            <a:pPr>
              <a:spcAft>
                <a:spcPts val="1800"/>
              </a:spcAft>
              <a:defRPr sz="2100" b="0">
                <a:solidFill>
                  <a:srgbClr val="D7E4EE"/>
                </a:solidFill>
              </a:defRPr>
            </a:pPr>
            <a:r>
              <a:t>Demo: launch Streamlit, enter sample transaction, view review flag.</a:t>
            </a:r>
          </a:p>
          <a:p>
            <a:pPr>
              <a:spcAft>
                <a:spcPts val="1800"/>
              </a:spcAft>
              <a:defRPr sz="2100" b="0">
                <a:solidFill>
                  <a:srgbClr val="D7E4EE"/>
                </a:solidFill>
              </a:defRPr>
            </a:pPr>
            <a:r>
              <a:t>No real-world impact or accuracy claims.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C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700" b="1">
                <a:solidFill>
                  <a:srgbClr val="41CFB9"/>
                </a:solidFill>
              </a:defRPr>
            </a:pPr>
            <a:r>
              <a:t>05 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3400" b="1">
                <a:solidFill>
                  <a:srgbClr val="FFFFFF"/>
                </a:solidFill>
              </a:defRPr>
            </a:pPr>
            <a:r>
              <a:t>From prototype to responsible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0"/>
            <a:ext cx="10607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 b="0">
                <a:solidFill>
                  <a:srgbClr val="D7E4EE"/>
                </a:solidFill>
              </a:defRPr>
            </a:pPr>
            <a:r>
              <a:t>Test on permissioned, representative transaction data.</a:t>
            </a:r>
          </a:p>
          <a:p>
            <a:pPr>
              <a:spcAft>
                <a:spcPts val="1800"/>
              </a:spcAft>
              <a:defRPr sz="2100" b="0">
                <a:solidFill>
                  <a:srgbClr val="D7E4EE"/>
                </a:solidFill>
              </a:defRPr>
            </a:pPr>
            <a:r>
              <a:t>Temporal validation, probability calibration, fairness audits.</a:t>
            </a:r>
          </a:p>
          <a:p>
            <a:pPr>
              <a:spcAft>
                <a:spcPts val="1800"/>
              </a:spcAft>
              <a:defRPr sz="2100" b="0">
                <a:solidFill>
                  <a:srgbClr val="D7E4EE"/>
                </a:solidFill>
              </a:defRPr>
            </a:pPr>
            <a:r>
              <a:t>Monitor drift, review workload, false positives, and appeals.</a:t>
            </a:r>
          </a:p>
          <a:p>
            <a:pPr>
              <a:spcAft>
                <a:spcPts val="1800"/>
              </a:spcAft>
              <a:defRPr sz="2100" b="0">
                <a:solidFill>
                  <a:srgbClr val="D7E4EE"/>
                </a:solidFill>
              </a:defRPr>
            </a:pPr>
            <a:r>
              <a:t>Keep final decisions with human investigators.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